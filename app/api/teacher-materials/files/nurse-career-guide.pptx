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dc69c5c104a23" /><Relationship Type="http://schemas.openxmlformats.org/officeDocument/2006/relationships/extended-properties" Target="/docProps/app.xml" Id="R28f604fa84d9488b" /><Relationship Type="http://schemas.openxmlformats.org/officeDocument/2006/relationships/officeDocument" Target="/ppt/presentation.xml" Id="R7c82ef34ace142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49b2c619b4763"/>
  </p:sldMasterIdLst>
  <p:notesMasterIdLst>
    <p:notesMasterId xmlns:r="http://schemas.openxmlformats.org/officeDocument/2006/relationships" r:id="Rbec23e1abe734936"/>
  </p:notesMasterIdLst>
  <p:sldIdLst>
    <p:sldId xmlns:r="http://schemas.openxmlformats.org/officeDocument/2006/relationships" id="256" r:id="R24424be27a464036"/>
    <p:sldId xmlns:r="http://schemas.openxmlformats.org/officeDocument/2006/relationships" id="257" r:id="Raa90d97e768547ae"/>
    <p:sldId xmlns:r="http://schemas.openxmlformats.org/officeDocument/2006/relationships" id="258" r:id="R112ffcff042d4092"/>
    <p:sldId xmlns:r="http://schemas.openxmlformats.org/officeDocument/2006/relationships" id="259" r:id="R6cb628070c054c13"/>
    <p:sldId xmlns:r="http://schemas.openxmlformats.org/officeDocument/2006/relationships" id="260" r:id="R151362f496334788"/>
    <p:sldId xmlns:r="http://schemas.openxmlformats.org/officeDocument/2006/relationships" id="261" r:id="R09e18f4d084149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bf17f03aca459b" /><Relationship Type="http://schemas.openxmlformats.org/officeDocument/2006/relationships/slideMaster" Target="/ppt/slideMasters/slideMaster1.xml" Id="Ra0b49b2c619b4763" /><Relationship Type="http://schemas.openxmlformats.org/officeDocument/2006/relationships/notesMaster" Target="/ppt/notesMasters/notesMaster1.xml" Id="Rbec23e1abe734936" /><Relationship Type="http://schemas.openxmlformats.org/officeDocument/2006/relationships/presProps" Target="/ppt/presProps.xml" Id="Rb2d26d9fce774804" /><Relationship Type="http://schemas.openxmlformats.org/officeDocument/2006/relationships/tableStyles" Target="/ppt/tableStyles.xml" Id="R8a413349d5314427" /><Relationship Type="http://schemas.openxmlformats.org/officeDocument/2006/relationships/slide" Target="/ppt/slides/slide1.xml" Id="R24424be27a464036" /><Relationship Type="http://schemas.openxmlformats.org/officeDocument/2006/relationships/slide" Target="/ppt/slides/slide2.xml" Id="Raa90d97e768547ae" /><Relationship Type="http://schemas.openxmlformats.org/officeDocument/2006/relationships/slide" Target="/ppt/slides/slide3.xml" Id="R112ffcff042d4092" /><Relationship Type="http://schemas.openxmlformats.org/officeDocument/2006/relationships/slide" Target="/ppt/slides/slide4.xml" Id="R6cb628070c054c13" /><Relationship Type="http://schemas.openxmlformats.org/officeDocument/2006/relationships/slide" Target="/ppt/slides/slide5.xml" Id="R151362f496334788" /><Relationship Type="http://schemas.openxmlformats.org/officeDocument/2006/relationships/slide" Target="/ppt/slides/slide6.xml" Id="R09e18f4d0841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9354dc6ceb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c8b797f6a4fd5" /><Relationship Type="http://schemas.openxmlformats.org/officeDocument/2006/relationships/notesMaster" Target="/ppt/notesMasters/notesMaster1.xml" Id="R1ae06a03fba84f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ec86c2c884380" /><Relationship Type="http://schemas.openxmlformats.org/officeDocument/2006/relationships/notesMaster" Target="/ppt/notesMasters/notesMaster1.xml" Id="Ref774bbff664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13a7be56964be6" /><Relationship Type="http://schemas.openxmlformats.org/officeDocument/2006/relationships/notesMaster" Target="/ppt/notesMasters/notesMaster1.xml" Id="Rde2350dc8d7a41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3053dd4cd4af1" /><Relationship Type="http://schemas.openxmlformats.org/officeDocument/2006/relationships/notesMaster" Target="/ppt/notesMasters/notesMaster1.xml" Id="Racc2e807c2ed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68a64572234655" /><Relationship Type="http://schemas.openxmlformats.org/officeDocument/2006/relationships/notesMaster" Target="/ppt/notesMasters/notesMaster1.xml" Id="Ref34157a15aa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bf744b7c04270" /><Relationship Type="http://schemas.openxmlformats.org/officeDocument/2006/relationships/notesMaster" Target="/ppt/notesMasters/notesMaster1.xml" Id="R7a41c11ee190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간호사 진로 교안의 표지입니다. 학생들에게 앱에서 경험한 장면을 떠올려 보게 한 뒤 직업의 실제 역할로 연결하세요.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https://www.law.go.kr/LSW/lsInfoP.do?ancYnChk=&amp;chrClsCd=010202&amp;efYd=20250621&amp;lsiSeq=265413&amp;urlMode=lsInfoP</a:t>
            </a:r>
          </a:p>
          <a:p xmlns:a="http://schemas.openxmlformats.org/drawingml/2006/main">
            <a:r>
              <a:t>- project asset: public/assets/nurse/career-cover-v2.webp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학생들에게 앱의 응급실 미션에서 어떤 정보가 가장 먼저 눈에 들어왔는지 물어보세요. 간호사의 핵심은 관찰한 정보를 우선순위와 행동으로 연결하는 것임을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https://www.law.go.kr/LSW/lsInfoP.do?ancYnChk=&amp;chrClsCd=010202&amp;efYd=20250621&amp;lsiSeq=265413&amp;urlMode=lsInfoP</a:t>
            </a:r>
          </a:p>
          <a:p xmlns:a="http://schemas.openxmlformats.org/drawingml/2006/main">
            <a:r>
              <a:t>- project asset: public/assets/nurse/triage-briefing-v2.webp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단계를 차례로 읽게 하지 말고, 앱에서 실제로 했던 행동을 각 단계에 붙여보게 하세요. 예: 환자 카드 보기=관찰, 구역 선택=판단, 처치 선택=처치, 설명 읽기=기록·협업의 이해.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https://www.law.go.kr/LSW/lsInfoP.do?ancYnChk=&amp;chrClsCd=010202&amp;efYd=20250621&amp;lsiSeq=265413&amp;urlMode=lsInfoP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장면 중 자신에게 가장 잘 맞는 현장을 고르고 이유를 말하게 하세요. 간호사는 병원뿐 아니라 학교, 산업현장, 재가, 사회복지시설 등 다양한 영역에서 일할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https://www.koreanurse.or.kr/kna_ko/130/subview.do</a:t>
            </a:r>
          </a:p>
          <a:p xmlns:a="http://schemas.openxmlformats.org/drawingml/2006/main">
            <a:r>
              <a:t>- project assets: public/assets/nurse/surgery-room-v1.webp, public/assets/nurse/icu-room-v1.webp, public/assets/nurse/medication-room-v1.webp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중학생에게는 학교 선택보다 먼저 생명과학, 의사소통, 협업, 정확한 기록 습관이 왜 필요한지 연결해 설명하세요. 세부 입시와 시험 기준은 변할 수 있으므로 최신 공고 확인을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https://www.law.go.kr/LSW/lsInfoP.do?ancYnChk=&amp;chrClsCd=010202&amp;efYd=20250621&amp;lsiSeq=265413&amp;urlMode=lsInfoP</a:t>
            </a:r>
          </a:p>
          <a:p xmlns:a="http://schemas.openxmlformats.org/drawingml/2006/main">
            <a:r>
              <a:t>- https://www.koreanurse.or.kr/kna_ko/130/subview.do</a:t>
            </a:r>
          </a:p>
          <a:p xmlns:a="http://schemas.openxmlformats.org/drawingml/2006/main">
            <a:r>
              <a:t>- https://www.kuksiwon.or.kr/notice/brd/m_51/view.do?seq=3793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5분에 세 질문 중 하나를 모둠별로 선택해 1분 토론하게 하세요. 답이 하나가 아니라 근거와 안전한 협업이 중요하다는 점으로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https://www.law.go.kr/LSW/lsInfoP.do?ancYnChk=&amp;chrClsCd=010202&amp;efYd=20250621&amp;lsiSeq=265413&amp;urlMode=lsInfoP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935011025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e7f0d2dff447b" /><Relationship Type="http://schemas.openxmlformats.org/officeDocument/2006/relationships/slideLayout" Target="/ppt/slideLayouts/slideLayout1.xml" Id="Rcff3edc351c84b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f3edc351c84b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66d48521e45b2" /><Relationship Type="http://schemas.openxmlformats.org/officeDocument/2006/relationships/image" Target="/ppt/media/image.bin" Id="Rdda946193eb647b2" /><Relationship Type="http://schemas.openxmlformats.org/officeDocument/2006/relationships/notesSlide" Target="/ppt/notesSlides/notesSlide1.xml" Id="R6071ccbc16e6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5d592914a4b94" /><Relationship Type="http://schemas.openxmlformats.org/officeDocument/2006/relationships/image" Target="/ppt/media/image2.bin" Id="R39163f1c707642ed" /><Relationship Type="http://schemas.openxmlformats.org/officeDocument/2006/relationships/notesSlide" Target="/ppt/notesSlides/notesSlide2.xml" Id="Rb17e3febca7945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b5dff9ad5401f" /><Relationship Type="http://schemas.openxmlformats.org/officeDocument/2006/relationships/notesSlide" Target="/ppt/notesSlides/notesSlide3.xml" Id="R62a38b31c9af4c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d5299fb1414a" /><Relationship Type="http://schemas.openxmlformats.org/officeDocument/2006/relationships/image" Target="/ppt/media/image3.bin" Id="Ra1ef6a9a33f94cd9" /><Relationship Type="http://schemas.openxmlformats.org/officeDocument/2006/relationships/image" Target="/ppt/media/image4.bin" Id="R9e28db7040f64d8e" /><Relationship Type="http://schemas.openxmlformats.org/officeDocument/2006/relationships/image" Target="/ppt/media/image5.bin" Id="R73519be54f374221" /><Relationship Type="http://schemas.openxmlformats.org/officeDocument/2006/relationships/notesSlide" Target="/ppt/notesSlides/notesSlide4.xml" Id="Rd3219266e28d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5e9a01c0481b" /><Relationship Type="http://schemas.openxmlformats.org/officeDocument/2006/relationships/notesSlide" Target="/ppt/notesSlides/notesSlide5.xml" Id="R5443b10922f442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cd40aa2b4e2e" /><Relationship Type="http://schemas.openxmlformats.org/officeDocument/2006/relationships/notesSlide" Target="/ppt/notesSlides/notesSlide6.xml" Id="R1c11621354984a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69F5-4D87-43DC-84DD-0EF27CF0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14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946193eb647b2"/>
          <a:srcRect xmlns:a="http://schemas.openxmlformats.org/drawingml/2006/main" l="0" t="19863" r="0" b="19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0"/>
            <a:ext cx="72771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A2147-04FE-4242-835D-CB9B1127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3E044-8CFB-4DC2-8E5C-27C2E03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GOLDEN TIME · TEACHER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1F19-4D14-4055-8012-6DA64E43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간호사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E93F7-217A-4EAD-9C7D-CE6C37E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3A4E"/>
                </a:solidFill>
              </a:defRPr>
            </a:pPr>
            <a:r>
              <a:rPr sz="1125" b="1">
                <a:solidFill>
                  <a:srgbClr val="D83A4E"/>
                </a:solidFill>
              </a:rPr>
              <a:t>REGISTERED NURSE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7C88B-8469-4135-A853-7484814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환자 곁에서 변화를 읽고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안전한 다음 행동을 만드는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8C7BA-F398-49D6-AE8C-EB287C22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DEC"/>
                </a:solidFill>
              </a:defRPr>
            </a:pPr>
            <a:r>
              <a:rPr sz="975" b="0">
                <a:solidFill>
                  <a:srgbClr val="DDEDEC"/>
                </a:solidFill>
              </a:rPr>
              <a:t>진로체험 수업용 · 교사용 자료</a:t>
            </a:r>
          </a:p>
        </p:txBody>
      </p:sp>
    </p:spTree>
    <p:extLst>
      <p:ext uri="{BB962C8B-B14F-4D97-AF65-F5344CB8AC3E}">
        <p14:creationId xmlns:p14="http://schemas.microsoft.com/office/powerpoint/2010/main" val="123318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263E9-0DCD-4D04-B2B5-662E0C0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3A4E"/>
                </a:solidFill>
              </a:defRPr>
            </a:pPr>
            <a:r>
              <a:rPr sz="900" b="1">
                <a:solidFill>
                  <a:srgbClr val="D83A4E"/>
                </a:solidFill>
              </a:rPr>
              <a:t>01 · ROLE IN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E6ADF-8C4C-4CA6-8BAE-4BC44C48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환자 곁에서 가장 먼저 변화를 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0E1FF-1514-4B5D-B649-1D83427B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간호는 지시를 기다리는 일이 아니라, 관찰한 정보를 안전한 행동으로 연결하는 일입니다.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63f1c707642e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24050"/>
            <a:ext cx="54673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28F4E-0E4B-422A-A9EE-8B4DE0F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3A4E"/>
                </a:solidFill>
              </a:defRPr>
            </a:pPr>
            <a:r>
              <a:rPr sz="1050" b="1">
                <a:solidFill>
                  <a:srgbClr val="D83A4E"/>
                </a:solidFill>
              </a:rPr>
              <a:t>보이는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87AA0-E564-479F-B035-C5880E07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33"/>
                </a:solidFill>
              </a:defRPr>
            </a:pPr>
            <a:r>
              <a:rPr sz="1875" b="1">
                <a:solidFill>
                  <a:srgbClr val="102F33"/>
                </a:solidFill>
              </a:rPr>
              <a:t>호흡 · 표정 · 피부색 · 활력징후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81B37-3EBF-401B-8390-D38A4524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68A49-F60C-48A9-BB20-D540C23C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3A4E"/>
                </a:solidFill>
              </a:defRPr>
            </a:pPr>
            <a:r>
              <a:rPr sz="1050" b="1">
                <a:solidFill>
                  <a:srgbClr val="D83A4E"/>
                </a:solidFill>
              </a:rPr>
              <a:t>판단하는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F7E51-4E27-4878-8E64-086DDDA7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33"/>
                </a:solidFill>
              </a:defRPr>
            </a:pPr>
            <a:r>
              <a:rPr sz="1875" b="1">
                <a:solidFill>
                  <a:srgbClr val="102F33"/>
                </a:solidFill>
              </a:rPr>
              <a:t>무엇이 먼저인지, 누구에게 알릴지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67540-2E52-482E-8BDC-9990DEBE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E319C-7AE3-4A01-9EA9-61FF3A8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3A4E"/>
                </a:solidFill>
              </a:defRPr>
            </a:pPr>
            <a:r>
              <a:rPr sz="1050" b="1">
                <a:solidFill>
                  <a:srgbClr val="D83A4E"/>
                </a:solidFill>
              </a:rPr>
              <a:t>행동하는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90913-50E6-4DD0-9900-4FFBFB24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33"/>
                </a:solidFill>
              </a:defRPr>
            </a:pPr>
            <a:r>
              <a:rPr sz="1875" b="1">
                <a:solidFill>
                  <a:srgbClr val="102F33"/>
                </a:solidFill>
              </a:rPr>
              <a:t>처치 · 기록 · 설명 · 협업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38B29-047A-4934-8FF5-0A1F352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6F7E2-DCE9-42F5-8517-42EB8128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NURSE CAREER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86D62-BA34-4B73-B3AB-D41E18C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3009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B2083-514C-49E7-9600-ABCBC8D2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78"/>
                </a:solidFill>
              </a:defRPr>
            </a:pPr>
            <a:r>
              <a:rPr sz="900" b="1">
                <a:solidFill>
                  <a:srgbClr val="087F78"/>
                </a:solidFill>
              </a:rPr>
              <a:t>02 · CLINICAL JUDGMENT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EB190-2F21-4C42-8E14-7AD78A05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간호사의 판단은 네 단계로 움직입니다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CEB81-1701-4271-A7DF-DD0CCF6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앱의 모든 미션은 이 흐름을 연습하도록 구성되어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EF43-0C19-4F7E-9863-15E850D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975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A944B-A9A1-4472-B839-8A8F0EF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094EB-44A8-4DD2-A7E5-E53B2B65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2EEB1-C278-4F03-AA13-177794D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FD891-399B-4867-8714-36B4F3AA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증상과 수치, 환자의 말을 함께 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65D50-A693-4BD9-834B-92B797E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47F34-8C66-4587-A7DC-C27C1C6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0CC45-611A-46B1-9EC0-96A8338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BC4EB-5B23-4584-87AA-E67EE644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위험도와 우선순위를 비교합니다.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774E3-1212-41AF-84BF-14B5A88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71749-8BBA-4B5E-8BC9-9CBF9E8D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2DF04-133E-469C-BCE2-E4ED7C1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처치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5F422-4C60-4C20-BE41-EAAC4F0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안전한 범위에서 먼저 행동합니다.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FDA16-37A5-4AFF-9377-D5DFEC41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384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13D6D-997C-4315-A444-E0B3DFDC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52E2E-980A-4E6E-9D0A-25F8656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33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기록·협업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952D2-FD20-4CDF-8912-79D4847E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766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변화와 조치를 정확히 인계합니다.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56089-1DF9-4814-A0E0-9A97DAB1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922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D74C5-E258-4249-A396-227AA1D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244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수업 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9E4B5-75E5-45A2-9D5B-0DCA6FF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86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“이 네 단계 중 하나가 빠지면 환자 안전에 어떤 일이 생길까요?”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28A75-5915-4F48-9EC9-8052209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7B1E1-BB9D-4B7A-BDAB-9F28657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NURSE CAREER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1D5C5-27A9-421C-943C-20B64316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3747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798BE-7F39-46B8-B0D2-21B4560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78"/>
                </a:solidFill>
              </a:defRPr>
            </a:pPr>
            <a:r>
              <a:rPr sz="900" b="1">
                <a:solidFill>
                  <a:srgbClr val="087F78"/>
                </a:solidFill>
              </a:rPr>
              <a:t>03 · MANY PLACES, ONE PROFESSION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FBC29-75EB-467D-932A-C7D933E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같은 간호사라도 현장에 따라 역할이 달라집니다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4E80-D638-40E2-9463-76AA8EB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응급실의 속도, 수술실의 정확성, 중환자실의 관찰력은 서로 다른 강점을 요구합니다.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f6a9a33f94cd9"/>
          <a:srcRect xmlns:a="http://schemas.openxmlformats.org/drawingml/2006/main" l="10192" t="0" r="101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00250"/>
            <a:ext cx="33147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63D6C-58B0-4977-B457-A898B8C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02B7-DE98-4977-8484-48C12451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F33"/>
                </a:solidFill>
              </a:defRPr>
            </a:pPr>
            <a:r>
              <a:rPr sz="1800" b="1">
                <a:solidFill>
                  <a:srgbClr val="102F33"/>
                </a:solidFill>
              </a:rPr>
              <a:t>수술실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6A9AE-36D1-43FE-8610-CADBD28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A"/>
                </a:solidFill>
              </a:defRPr>
            </a:pPr>
            <a:r>
              <a:rPr sz="1200" b="0">
                <a:solidFill>
                  <a:srgbClr val="66777A"/>
                </a:solidFill>
              </a:rPr>
              <a:t>멸균과 기구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5692E-AEFF-4D31-83A4-B8DD5730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78"/>
                </a:solidFill>
              </a:defRPr>
            </a:pPr>
            <a:r>
              <a:rPr sz="900" b="1">
                <a:solidFill>
                  <a:srgbClr val="087F78"/>
                </a:solidFill>
              </a:rPr>
              <a:t>정확성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8db7040f64d8e"/>
          <a:srcRect xmlns:a="http://schemas.openxmlformats.org/drawingml/2006/main" l="10192" t="0" r="101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2000250"/>
            <a:ext cx="33147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8516-DE59-4455-B7EE-5B85005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0A314-C643-4CDF-A752-3E78133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F33"/>
                </a:solidFill>
              </a:defRPr>
            </a:pPr>
            <a:r>
              <a:rPr sz="1800" b="1">
                <a:solidFill>
                  <a:srgbClr val="102F33"/>
                </a:solidFill>
              </a:rPr>
              <a:t>중환자실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8DF27-8C59-416D-9AF7-83A040C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A"/>
                </a:solidFill>
              </a:defRPr>
            </a:pPr>
            <a:r>
              <a:rPr sz="1200" b="0">
                <a:solidFill>
                  <a:srgbClr val="66777A"/>
                </a:solidFill>
              </a:rPr>
              <a:t>작은 변화의 조기 발견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65CA6-89A9-40B5-888B-8423A3AD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76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3A4E"/>
                </a:solidFill>
              </a:defRPr>
            </a:pPr>
            <a:r>
              <a:rPr sz="900" b="1">
                <a:solidFill>
                  <a:srgbClr val="D83A4E"/>
                </a:solidFill>
              </a:rPr>
              <a:t>집중력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9be54f374221"/>
          <a:srcRect xmlns:a="http://schemas.openxmlformats.org/drawingml/2006/main" l="10192" t="0" r="101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2000250"/>
            <a:ext cx="33147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6C2C2-0ACC-4798-BD08-AD4C89B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A930-879A-4F32-A750-BD68568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F33"/>
                </a:solidFill>
              </a:defRPr>
            </a:pPr>
            <a:r>
              <a:rPr sz="1800" b="1">
                <a:solidFill>
                  <a:srgbClr val="102F33"/>
                </a:solidFill>
              </a:rPr>
              <a:t>투약실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686EB-C8AE-434C-BA41-D7170357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A"/>
                </a:solidFill>
              </a:defRPr>
            </a:pPr>
            <a:r>
              <a:rPr sz="1200" b="0">
                <a:solidFill>
                  <a:srgbClr val="66777A"/>
                </a:solidFill>
              </a:rPr>
              <a:t>환자·처방·약품 대조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77BAA-10ED-478E-8DEA-7B4968D3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76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8232"/>
                </a:solidFill>
              </a:defRPr>
            </a:pPr>
            <a:r>
              <a:rPr sz="900" b="1">
                <a:solidFill>
                  <a:srgbClr val="E98232"/>
                </a:solidFill>
              </a:rPr>
              <a:t>꼼꼼함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12C2C-3802-4D8D-890D-A467FB29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30C2D-BFFF-4EAC-81A7-595295D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NURSE CAREER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93461-E64A-482E-B2F7-CEB342C9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5904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A30EA-959B-4434-8311-83A060D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78"/>
                </a:solidFill>
              </a:defRPr>
            </a:pPr>
            <a:r>
              <a:rPr sz="900" b="1">
                <a:solidFill>
                  <a:srgbClr val="087F78"/>
                </a:solidFill>
              </a:rPr>
              <a:t>04 · PATH TO LICENSE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49C38-D9B1-4EC1-B67A-FEA5C4B1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33"/>
                </a:solidFill>
              </a:defRPr>
            </a:pPr>
            <a:r>
              <a:rPr sz="2850" b="1">
                <a:solidFill>
                  <a:srgbClr val="102F33"/>
                </a:solidFill>
              </a:rPr>
              <a:t>간호사가 되는 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6D15-DCD1-4C0C-B4D5-F9A7423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77A"/>
                </a:solidFill>
              </a:defRPr>
            </a:pPr>
            <a:r>
              <a:rPr sz="1350" b="0">
                <a:solidFill>
                  <a:srgbClr val="66777A"/>
                </a:solidFill>
              </a:rPr>
              <a:t>평가인증을 받은 간호교육과정을 마치고 국가시험에 합격한 뒤 보건복지부장관의 면허를 받습니다.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1CE8F-98E1-49EF-908E-DC45745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90825"/>
            <a:ext cx="975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CA12D-50CA-4573-931E-413EA370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6401-0071-4093-85D6-D486A96D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A3D7E-960C-43CA-B97C-33153FE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간호교육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77E67-E47D-40AC-89DC-50612FF0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평가인증을 받은 대학·전문대학 간호학 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A3D82-FD37-47A8-BFB0-4327C6C5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0967B-BA15-44E2-A941-D356C831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6A951-3B02-475E-8519-D07E217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국가시험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77CE1-1BFB-41D0-A1D4-0E2374F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4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간호학과 보건의약 관계 법규에 관한 시험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BD411-D84B-4030-A6C4-99F9C45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81E4D-E2D9-44AE-A6FB-3357B26D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FB28-8287-4FDB-8DD3-CEA43F2E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4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면허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ED53A-4747-4293-B9C6-EE16077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보건복지부장관의 간호사 면허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86CF-F0BE-4744-8CD5-8B56004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289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AFE44-802B-4E3E-9A0F-21F33994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B9C15-7014-4EE2-862E-E607B8A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24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3"/>
                </a:solidFill>
              </a:defRPr>
            </a:pPr>
            <a:r>
              <a:rPr sz="1350" b="1">
                <a:solidFill>
                  <a:srgbClr val="102F33"/>
                </a:solidFill>
              </a:rPr>
              <a:t>진로 확장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C740B-AAAC-4237-A4BD-E9D7EE1C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77A"/>
                </a:solidFill>
              </a:defRPr>
            </a:pPr>
            <a:r>
              <a:rPr sz="975" b="0">
                <a:solidFill>
                  <a:srgbClr val="66777A"/>
                </a:solidFill>
              </a:rPr>
              <a:t>병원·보건·학교·산업·공공기관 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602DC-A9E9-4AD1-A360-85869AA5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9220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22B53-6C96-441E-892B-3D31EC5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F33"/>
                </a:solidFill>
              </a:defRPr>
            </a:pPr>
            <a:r>
              <a:rPr sz="1200" b="1">
                <a:solidFill>
                  <a:srgbClr val="102F33"/>
                </a:solidFill>
              </a:rPr>
              <a:t>진로 정보는 입학·시험 시점에 국시원과 관련 법령에서 최신 기준을 다시 확인하세요.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3D894-B107-4B74-90F5-BDD6316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18F50-F7AD-4DAD-905D-1D286D9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GOLDEN TIME · NURSE CAREER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CC741-F885-485A-AFAA-28DE929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77A"/>
                </a:solidFill>
              </a:defRPr>
            </a:pPr>
            <a:r>
              <a:rPr sz="675" b="1">
                <a:solidFill>
                  <a:srgbClr val="6677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7732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12D89-3A52-429E-8A79-427028C8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C"/>
                </a:solidFill>
              </a:defRPr>
            </a:pPr>
            <a:r>
              <a:rPr sz="900" b="1">
                <a:solidFill>
                  <a:srgbClr val="DDEDEC"/>
                </a:solidFill>
              </a:rPr>
              <a:t>05 · CLASS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C8E61-34F1-4A88-9F67-44BFD47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수업에서 바로 쓰는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30405-7854-4675-A096-E5310D3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DEDEC"/>
                </a:solidFill>
              </a:defRPr>
            </a:pPr>
            <a:r>
              <a:rPr sz="1425" b="0">
                <a:solidFill>
                  <a:srgbClr val="DDEDEC"/>
                </a:solidFill>
              </a:rPr>
              <a:t>정답보다 판단의 근거를 말하게 하세요.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57D55-C9A6-4B4F-AB4F-3E64A5F2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3A4E"/>
                </a:solidFill>
              </a:defRPr>
            </a:pPr>
            <a:r>
              <a:rPr sz="1350" b="1">
                <a:solidFill>
                  <a:srgbClr val="D83A4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DAF62-60FE-4D0F-8228-43230AF4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DEDEC"/>
                </a:solidFill>
              </a:defRPr>
            </a:pPr>
            <a:r>
              <a:rPr sz="1200" b="1">
                <a:solidFill>
                  <a:srgbClr val="DDEDEC"/>
                </a:solidFill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4FC38-B054-463B-972D-1B70882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환자의 말과 모니터 수치가 다르면 무엇을 먼저 확인할까?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A689F-4F61-421C-B1CA-52AF9B45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AB3DF-4607-4619-A392-6E9F579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3A4E"/>
                </a:solidFill>
              </a:defRPr>
            </a:pPr>
            <a:r>
              <a:rPr sz="1350" b="1">
                <a:solidFill>
                  <a:srgbClr val="D83A4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47AFD-FBF2-4224-A2A3-FC36D05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DEDEC"/>
                </a:solidFill>
              </a:defRPr>
            </a:pPr>
            <a:r>
              <a:rPr sz="1200" b="1">
                <a:solidFill>
                  <a:srgbClr val="DDEDEC"/>
                </a:solidFill>
              </a:rPr>
              <a:t>안전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0EA16-50F3-49C9-BE84-22853B2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528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수술 도구와 약품은 왜 한 번 더 확인해야 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9CB50-7ED4-4CA2-864C-2992DF5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9BEB0-B810-466B-9075-795DF36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3A4E"/>
                </a:solidFill>
              </a:defRPr>
            </a:pPr>
            <a:r>
              <a:rPr sz="1350" b="1">
                <a:solidFill>
                  <a:srgbClr val="D83A4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F82CA-4D2A-4B94-B87B-38A7AF10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DEDEC"/>
                </a:solidFill>
              </a:defRPr>
            </a:pPr>
            <a:r>
              <a:rPr sz="1200" b="1">
                <a:solidFill>
                  <a:srgbClr val="DDEDEC"/>
                </a:solidFill>
              </a:rPr>
              <a:t>협업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CD8AC-A21F-45C1-B654-C966D3C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혼자 해결하지 않고 바로 알려야 하는 순간은 언제일까?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510E1-EC40-4416-B275-7A2511E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B504D-C1A2-4C99-93D4-93A7C1B5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마무리 활동 · 내가 잘한 판단 한 가지와 더 연습할 행동 한 가지를 적어봅니다.</a:t>
            </a:r>
          </a:p>
        </p:txBody>
      </p:sp>
    </p:spTree>
    <p:extLst>
      <p:ext uri="{BB962C8B-B14F-4D97-AF65-F5344CB8AC3E}">
        <p14:creationId xmlns:p14="http://schemas.microsoft.com/office/powerpoint/2010/main" val="2091061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2026-08-14T08:09:07.6800000Z</dcterms:created>
  <dcterms:modified xsi:type="dcterms:W3CDTF">2026-08-14T08:09:07.6800000Z</dcterms:modified>
</coreProperties>
</file>